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5"/>
  </p:normalViewPr>
  <p:slideViewPr>
    <p:cSldViewPr snapToGrid="0">
      <p:cViewPr varScale="1">
        <p:scale>
          <a:sx n="133" d="100"/>
          <a:sy n="133" d="100"/>
        </p:scale>
        <p:origin x="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e208e70a2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g3e208e70a2c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g3e208e70a2c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208e70a2c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g3e208e70a2c_1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08080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We had 6 months of hourly sensor data from a flotation processing plant. The question was: can we use the data the plant is already collecting to predict iron concentrate grade in near real-time — without waiting for the lab?</a:t>
            </a:r>
            <a:endParaRPr/>
          </a:p>
        </p:txBody>
      </p:sp>
      <p:sp>
        <p:nvSpPr>
          <p:cNvPr id="66" name="Google Shape;66;g3e208e70a2c_1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e208e70a2c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e208e70a2c_1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Iron and silica content in the ore feed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Reagent flows — starch and amina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Ore pulp pH, density and flow rate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Airflow and flotation level across 7 columns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Lag features capturing what conditions were 1 and 3 hours ago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033B3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Rolling averages over 3-hour windows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The target variable is iron concentrate percentage — typically ranging between 65 and 68%.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Why we didn't split the data randomly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 is a time series — the order matters. Randomly shuffling the data would let the model train on future readings to predict the past, which is data leakage. In a real plant, you never have future data available.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We split the data chronologically — train on the past, test on what comes after. For cross-validation, we used TimeSeriesSplit with 7 folds, which we tested against 3 and 5 folds and found to be the most stable for this dataset size.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3e208e70a2c_1_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208e70a2c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e208e70a2c_1_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e208e70a2c_1_6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208e70a2c_1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g3e208e70a2c_1_1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e208e70a2c_1_1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208e70a2c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e208e70a2c_1_1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 practice, that means when the plant is producing 66.5% iron concentrate, the model's prediction is typically between 65.9% and 67.1%. Given that iron concentrate quality is influenced by ore feed variability, microscopic mineralogy, and equipment state that no sensor fully captures, a 54% R² is consistent with what industrial ML systems achieve on this type of problem.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08080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The CV and test scores are close — 0.54 and 0.56 — which tells us the model is not memorising the training data. It generalises honestly to unseen time periods.</a:t>
            </a:r>
            <a:endParaRPr sz="1100">
              <a:solidFill>
                <a:srgbClr val="080808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g3e208e70a2c_1_1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208e70a2c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g3e208e70a2c_1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model predicts iron concentrate grade from live sensor readings. As long as the plant's instruments are running, the model can predict quality in near real-time — and can simulate what would happen if operators changed specific process variables. This gives the technical team both a monitoring tool and a decision support tool."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Instead of waiting for a lab result that comes back hours later, the model can use the live sensor readings that </a:t>
            </a:r>
            <a:r>
              <a:rPr lang="en-US" sz="1100" i="1">
                <a:latin typeface="Arial"/>
                <a:ea typeface="Arial"/>
                <a:cs typeface="Arial"/>
                <a:sym typeface="Arial"/>
              </a:rPr>
              <a:t>are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available in real time — airflow, pH, reagent dosage, feed grade — and give an immediate estimate of what the concentrate grade likely is right now. 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In the iron ore industry, a difference of even 0.5 to 1 percentage point in concentrate grade has direct commercial impact — it affects the price per tonne the product commands, blending decisions, and whether a shipment meets contract specifications. Catching a drop in quality hours earlier than a lab result allows operators to intervene before tonnage is lost.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3e208e70a2c_1_1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e208e70a2c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e208e70a2c_1_1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3e208e70a2c_1_16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208e70a2c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e208e70a2c_3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3e208e70a2c_3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bg>
      <p:bgPr>
        <a:solidFill>
          <a:srgbClr val="000000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bg>
      <p:bgPr>
        <a:solidFill>
          <a:srgbClr val="000000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bg>
      <p:bgPr>
        <a:solidFill>
          <a:srgbClr val="000000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bg>
      <p:bgPr>
        <a:solidFill>
          <a:srgbClr val="000000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" name="Google Shape;25;p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bg>
      <p:bgPr>
        <a:solidFill>
          <a:srgbClr val="000000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" name="Google Shape;29;p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bg>
      <p:bgPr>
        <a:solidFill>
          <a:srgbClr val="000000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" name="Google Shape;33;p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bg>
      <p:bgPr>
        <a:solidFill>
          <a:srgbClr val="000000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Google Shape;37;p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bg>
      <p:bgPr>
        <a:solidFill>
          <a:srgbClr val="000000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bg>
      <p:bgPr>
        <a:solidFill>
          <a:srgbClr val="000000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1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bg>
      <p:bgPr>
        <a:solidFill>
          <a:srgbClr val="000000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" name="Google Shape;49;p1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6537960" y="-1051560"/>
            <a:ext cx="4206240" cy="4206240"/>
          </a:xfrm>
          <a:prstGeom prst="ellipse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7360920" y="2331720"/>
            <a:ext cx="2194560" cy="219456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" name="Google Shape;58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28432" y="2990088"/>
            <a:ext cx="868680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/>
          <p:nvPr/>
        </p:nvSpPr>
        <p:spPr>
          <a:xfrm>
            <a:off x="548640" y="269553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DATA ANALYTICS </a:t>
            </a:r>
            <a:r>
              <a:rPr lang="en-US" sz="1250" b="1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BOOTCAMP </a:t>
            </a:r>
            <a:r>
              <a:rPr lang="en-US" sz="125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·  IRONHACK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365645" y="1460615"/>
            <a:ext cx="65838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6383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4700"/>
              <a:buFont typeface="Georgia"/>
              <a:buNone/>
            </a:pPr>
            <a:r>
              <a:rPr lang="en-US" sz="50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Predicting Iron Concentrate Quality 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" name="Google Shape;61;p13"/>
          <p:cNvCxnSpPr/>
          <p:nvPr/>
        </p:nvCxnSpPr>
        <p:spPr>
          <a:xfrm>
            <a:off x="566928" y="4114800"/>
            <a:ext cx="2194560" cy="0"/>
          </a:xfrm>
          <a:prstGeom prst="straightConnector1">
            <a:avLst/>
          </a:prstGeom>
          <a:noFill/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13"/>
          <p:cNvSpPr/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Adriana Alves   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QUESTION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Can process sensors predict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the final product quality?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502920" y="205740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51724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450"/>
              <a:buFont typeface="Calibri"/>
              <a:buNone/>
            </a:pPr>
            <a:r>
              <a:rPr lang="en-US" sz="14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A flotation plant separates iron from silica. The purity of the output</a:t>
            </a:r>
            <a:r>
              <a:rPr lang="en-US" sz="14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is confirmed by lab sampling, which can takes hours. The process sensors, meanwhile, record continuously.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4"/>
          <p:cNvSpPr/>
          <p:nvPr/>
        </p:nvSpPr>
        <p:spPr>
          <a:xfrm>
            <a:off x="502920" y="3611880"/>
            <a:ext cx="50292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53846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300"/>
              <a:buFont typeface="Calibri"/>
              <a:buNone/>
            </a:pPr>
            <a:r>
              <a:rPr lang="en-US" sz="1300" b="0" i="1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If sensor data could estimate purity in near real time, operators would see quality slipping long before the lab confirms it.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5806440" y="19659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150"/>
              <a:buFont typeface="Calibri"/>
              <a:buNone/>
            </a:pPr>
            <a:r>
              <a:rPr lang="en-US" sz="145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WHY IT MATTERS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5806440" y="2286000"/>
            <a:ext cx="2926080" cy="118872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4"/>
          <p:cNvSpPr/>
          <p:nvPr/>
        </p:nvSpPr>
        <p:spPr>
          <a:xfrm>
            <a:off x="5998464" y="2450592"/>
            <a:ext cx="402336" cy="402336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" name="Google Shape;77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4476" y="2546604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4"/>
          <p:cNvSpPr/>
          <p:nvPr/>
        </p:nvSpPr>
        <p:spPr>
          <a:xfrm>
            <a:off x="6528816" y="2423160"/>
            <a:ext cx="2103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2000"/>
              <a:buFont typeface="Georgia"/>
              <a:buNone/>
            </a:pPr>
            <a:r>
              <a:rPr lang="en-US" sz="20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$1.50–$2.50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4"/>
          <p:cNvSpPr/>
          <p:nvPr/>
        </p:nvSpPr>
        <p:spPr>
          <a:xfrm>
            <a:off x="5998464" y="2944368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price swing per tonne for every 1% of Fe grade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5806440" y="3611880"/>
            <a:ext cx="2926080" cy="118872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4"/>
          <p:cNvSpPr/>
          <p:nvPr/>
        </p:nvSpPr>
        <p:spPr>
          <a:xfrm>
            <a:off x="5998464" y="3776472"/>
            <a:ext cx="402336" cy="402336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2" name="Google Shape;82;p1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4476" y="3872484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4"/>
          <p:cNvSpPr/>
          <p:nvPr/>
        </p:nvSpPr>
        <p:spPr>
          <a:xfrm>
            <a:off x="6528816" y="3749040"/>
            <a:ext cx="2103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2000"/>
              <a:buFont typeface="Georgia"/>
              <a:buNone/>
            </a:pPr>
            <a:r>
              <a:rPr lang="en-US" sz="20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+2% productivity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5998464" y="4270248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mill productivity gain per 1% increase in grade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5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5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1250" b="1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FEATURE ENGINEERING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5"/>
          <p:cNvSpPr/>
          <p:nvPr/>
        </p:nvSpPr>
        <p:spPr>
          <a:xfrm>
            <a:off x="475483" y="1289100"/>
            <a:ext cx="1965900" cy="11157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603499" y="1362252"/>
            <a:ext cx="17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900"/>
              <a:buFont typeface="Georgia"/>
              <a:buNone/>
            </a:pPr>
            <a:r>
              <a:rPr lang="en-US" sz="19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737,453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5"/>
          <p:cNvSpPr/>
          <p:nvPr/>
        </p:nvSpPr>
        <p:spPr>
          <a:xfrm>
            <a:off x="603499" y="1746300"/>
            <a:ext cx="17100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raw sensor readings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logged every 20 seconds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7727" y="1746300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2606035" y="1289100"/>
            <a:ext cx="1965900" cy="11157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2734051" y="1362252"/>
            <a:ext cx="17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900"/>
              <a:buFont typeface="Georgia"/>
              <a:buNone/>
            </a:pPr>
            <a:r>
              <a:rPr lang="en-US" sz="19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~4,000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/>
          <p:nvPr/>
        </p:nvSpPr>
        <p:spPr>
          <a:xfrm>
            <a:off x="2734051" y="1746300"/>
            <a:ext cx="17100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hourly samples after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aggregation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58279" y="1746300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/>
          <p:nvPr/>
        </p:nvSpPr>
        <p:spPr>
          <a:xfrm>
            <a:off x="4736587" y="1289100"/>
            <a:ext cx="1965900" cy="11157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4864603" y="1362252"/>
            <a:ext cx="17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900"/>
              <a:buFont typeface="Georgia"/>
              <a:buNone/>
            </a:pPr>
            <a:r>
              <a:rPr lang="en-US" sz="19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116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4864603" y="1746300"/>
            <a:ext cx="17100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engineered features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88830" y="1746300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5"/>
          <p:cNvSpPr/>
          <p:nvPr/>
        </p:nvSpPr>
        <p:spPr>
          <a:xfrm>
            <a:off x="6867138" y="1289100"/>
            <a:ext cx="1965900" cy="11157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6995155" y="1362252"/>
            <a:ext cx="17100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900"/>
              <a:buFont typeface="Georgia"/>
              <a:buNone/>
            </a:pPr>
            <a:r>
              <a:rPr lang="en-US" sz="19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3 models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/>
          <p:nvPr/>
        </p:nvSpPr>
        <p:spPr>
          <a:xfrm>
            <a:off x="6995155" y="1746300"/>
            <a:ext cx="17100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simple to complex: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1359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30"/>
              <a:buFont typeface="Calibri"/>
              <a:buNone/>
            </a:pPr>
            <a:r>
              <a:rPr lang="en-US" sz="103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tree, bagging, boosting</a:t>
            </a:r>
            <a:endParaRPr sz="10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438907" y="2719748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A0AE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7FA0AE"/>
                </a:solidFill>
                <a:latin typeface="Calibri"/>
                <a:ea typeface="Calibri"/>
                <a:cs typeface="Calibri"/>
                <a:sym typeface="Calibri"/>
              </a:rPr>
              <a:t>WHAT WENT INTO THE 116 FEATURES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438908" y="2975780"/>
            <a:ext cx="2651700" cy="10059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585211" y="3048932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0A06A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0A06A"/>
                </a:solidFill>
                <a:latin typeface="Calibri"/>
                <a:ea typeface="Calibri"/>
                <a:cs typeface="Calibri"/>
                <a:sym typeface="Calibri"/>
              </a:rPr>
              <a:t>Hourly aggregates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585211" y="3304964"/>
            <a:ext cx="23958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mean, std, min, max of every sensor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3246116" y="2975780"/>
            <a:ext cx="2651700" cy="10059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3392420" y="3048932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0A06A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0A06A"/>
                </a:solidFill>
                <a:latin typeface="Calibri"/>
                <a:ea typeface="Calibri"/>
                <a:cs typeface="Calibri"/>
                <a:sym typeface="Calibri"/>
              </a:rPr>
              <a:t>Lag &amp; rolling windows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3392420" y="3304964"/>
            <a:ext cx="23958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values from 1–3h back + 3h rolling means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6053324" y="2975780"/>
            <a:ext cx="2651700" cy="10059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6199627" y="3048932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0A06A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0A06A"/>
                </a:solidFill>
                <a:latin typeface="Calibri"/>
                <a:ea typeface="Calibri"/>
                <a:cs typeface="Calibri"/>
                <a:sym typeface="Calibri"/>
              </a:rPr>
              <a:t>Time features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6199627" y="3304964"/>
            <a:ext cx="23958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hour,  month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475470" y="4237905"/>
            <a:ext cx="8156400" cy="548700"/>
          </a:xfrm>
          <a:prstGeom prst="rect">
            <a:avLst/>
          </a:prstGeom>
          <a:solidFill>
            <a:srgbClr val="2F3E48"/>
          </a:solidFill>
          <a:ln w="1270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685782" y="4237905"/>
            <a:ext cx="7772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1739"/>
              </a:lnSpc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KEY DECISION   </a:t>
            </a:r>
            <a:r>
              <a:rPr lang="en-US" sz="11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Split chronologically, never randomly</a:t>
            </a:r>
            <a:r>
              <a:rPr lang="en-US" sz="11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. A</a:t>
            </a:r>
            <a:r>
              <a:rPr lang="en-US" sz="11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 random split would let the model train on the future. Validation used TimeSeriesSplit, 7 folds.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6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FIRST (GOOD) RESULT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A suspiciously good score</a:t>
            </a:r>
            <a:r>
              <a:rPr lang="en-US" sz="31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…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502920" y="1965960"/>
            <a:ext cx="3017520" cy="269748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685800" y="21945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FIRST MODEL  ·  TEST R²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640080" y="2395728"/>
            <a:ext cx="2743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7200"/>
              <a:buFont typeface="Georgia"/>
              <a:buNone/>
            </a:pPr>
            <a:r>
              <a:rPr lang="en-US" sz="72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0.51</a:t>
            </a:r>
            <a:endParaRPr sz="7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p16"/>
          <p:cNvCxnSpPr/>
          <p:nvPr/>
        </p:nvCxnSpPr>
        <p:spPr>
          <a:xfrm>
            <a:off x="868680" y="2990088"/>
            <a:ext cx="2286000" cy="0"/>
          </a:xfrm>
          <a:prstGeom prst="straightConnector1">
            <a:avLst/>
          </a:prstGeom>
          <a:noFill/>
          <a:ln w="3810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3" name="Google Shape;133;p16"/>
          <p:cNvSpPr/>
          <p:nvPr/>
        </p:nvSpPr>
        <p:spPr>
          <a:xfrm>
            <a:off x="640080" y="3611880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REJECTED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640080" y="400507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not a real result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3886200" y="2011680"/>
            <a:ext cx="457200" cy="45720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6" name="Google Shape;136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95928" y="212140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/>
          <p:nvPr/>
        </p:nvSpPr>
        <p:spPr>
          <a:xfrm>
            <a:off x="4526280" y="1993392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700"/>
              <a:buFont typeface="Georgia"/>
              <a:buNone/>
            </a:pPr>
            <a:r>
              <a:rPr lang="en-US" sz="17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One feature was doing 80% of the work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3886200" y="2606040"/>
            <a:ext cx="4800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F0A06A"/>
                </a:solidFill>
                <a:latin typeface="Calibri"/>
                <a:ea typeface="Calibri"/>
                <a:cs typeface="Calibri"/>
                <a:sym typeface="Calibri"/>
              </a:rPr>
              <a:t>% silica concentrate</a:t>
            </a:r>
            <a:r>
              <a:rPr lang="en-US" sz="13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was flagged</a:t>
            </a:r>
            <a:r>
              <a:rPr lang="en-US" sz="13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 the dominant predictor by a wide margin.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3886200" y="3200400"/>
            <a:ext cx="4800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300"/>
              <a:buFont typeface="Calibri"/>
              <a:buNone/>
            </a:pPr>
            <a:endParaRPr sz="1300">
              <a:solidFill>
                <a:srgbClr val="93A1A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F0A06A"/>
                </a:solidFill>
                <a:latin typeface="Calibri"/>
                <a:ea typeface="Calibri"/>
                <a:cs typeface="Calibri"/>
                <a:sym typeface="Calibri"/>
              </a:rPr>
              <a:t>WHY? </a:t>
            </a:r>
            <a:br>
              <a:rPr lang="en-US" sz="1300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3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ilica </a:t>
            </a:r>
            <a:r>
              <a:rPr lang="en-US" sz="1300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is </a:t>
            </a:r>
            <a:r>
              <a:rPr lang="en-US" sz="13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 measured on the same final product, at the same moment, as iron concentrate</a:t>
            </a:r>
            <a:r>
              <a:rPr lang="en-US" sz="1300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-US" sz="130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model wasn't predicting quality.</a:t>
            </a:r>
            <a:endParaRPr sz="1300">
              <a:solidFill>
                <a:srgbClr val="93A1A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300"/>
              <a:buFont typeface="Calibri"/>
              <a:buNone/>
            </a:pPr>
            <a:endParaRPr sz="1300">
              <a:solidFill>
                <a:srgbClr val="93A1A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3886200" y="4315968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250"/>
              <a:buFont typeface="Calibri"/>
              <a:buNone/>
            </a:pPr>
            <a:r>
              <a:rPr lang="en-US" sz="1250" b="1" i="1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Decision: remove it, and find out what the process variables can really do.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05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BREAKTHROUGH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Removed the real leak and add t</a:t>
            </a:r>
            <a:r>
              <a:rPr lang="en-US" sz="31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he best predictor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02920" y="2057400"/>
            <a:ext cx="397764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8148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If the target moves slowly, the most recent lab result is powerful information</a:t>
            </a:r>
            <a:r>
              <a:rPr lang="en-US" sz="13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-US" sz="13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It was the feature the pipeline was missing.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4800600" y="18105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A0AE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7FA0AE"/>
                </a:solidFill>
                <a:latin typeface="Calibri"/>
                <a:ea typeface="Calibri"/>
                <a:cs typeface="Calibri"/>
                <a:sym typeface="Calibri"/>
              </a:rPr>
              <a:t>HOW IRON GRADE CORRELATES WITH ITS OWN PAST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09160" y="2103120"/>
            <a:ext cx="406908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7"/>
          <p:cNvSpPr/>
          <p:nvPr/>
        </p:nvSpPr>
        <p:spPr>
          <a:xfrm>
            <a:off x="4709160" y="4681728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950"/>
              <a:buFont typeface="Calibri"/>
              <a:buNone/>
            </a:pPr>
            <a:r>
              <a:rPr lang="en-US" sz="950" b="0" i="1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Lag from current hour  →  correlation decays but stays strong at 1–3 hours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7" title="Screenshot 2026-05-14 at 21.39.2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476" y="3325725"/>
            <a:ext cx="3830502" cy="135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8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06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THE HONEST RESULT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457200" y="91440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Now we’re talking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502920" y="178308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A0AE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7FA0AE"/>
                </a:solidFill>
                <a:latin typeface="Calibri"/>
                <a:ea typeface="Calibri"/>
                <a:cs typeface="Calibri"/>
                <a:sym typeface="Calibri"/>
              </a:rPr>
              <a:t>TEST R²  —  FINAL MODELS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2103120"/>
            <a:ext cx="416052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457200" y="4599428"/>
            <a:ext cx="41604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950"/>
              <a:buFont typeface="Calibri"/>
              <a:buNone/>
            </a:pPr>
            <a:r>
              <a:rPr lang="en-US" sz="950" b="0" i="1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Decision Tree (baseline), Random Forest (bagging) and XGBoost (boosting), all tuned with GridSearchCV under TimeSeriesSplit. Tuning is what moved XGBoost ahead of Random Forest.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4937760" y="1874520"/>
            <a:ext cx="3703320" cy="2788920"/>
          </a:xfrm>
          <a:prstGeom prst="rect">
            <a:avLst/>
          </a:prstGeom>
          <a:solidFill>
            <a:srgbClr val="25313A"/>
          </a:solidFill>
          <a:ln w="15875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5138928" y="2029968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E2793D"/>
                </a:solidFill>
                <a:latin typeface="Calibri"/>
                <a:ea typeface="Calibri"/>
                <a:cs typeface="Calibri"/>
                <a:sym typeface="Calibri"/>
              </a:rPr>
              <a:t>WINNER  ·  TUNED XGBOOST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138928" y="2304288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600"/>
              <a:buFont typeface="Georgia"/>
              <a:buNone/>
            </a:pPr>
            <a:r>
              <a:rPr lang="en-US" sz="36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0.536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6766560" y="2304288"/>
            <a:ext cx="1737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Test R²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5138928" y="3017520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600"/>
              <a:buFont typeface="Georgia"/>
              <a:buNone/>
            </a:pPr>
            <a:r>
              <a:rPr lang="en-US" sz="36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0.563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6766560" y="3017520"/>
            <a:ext cx="17830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Mean absolute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error  (% Fe)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" name="Google Shape;173;p18"/>
          <p:cNvCxnSpPr/>
          <p:nvPr/>
        </p:nvCxnSpPr>
        <p:spPr>
          <a:xfrm>
            <a:off x="5138928" y="3785616"/>
            <a:ext cx="3291840" cy="0"/>
          </a:xfrm>
          <a:prstGeom prst="straightConnector1">
            <a:avLst/>
          </a:prstGeom>
          <a:noFill/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4" name="Google Shape;174;p18"/>
          <p:cNvSpPr/>
          <p:nvPr/>
        </p:nvSpPr>
        <p:spPr>
          <a:xfrm>
            <a:off x="5138928" y="3886200"/>
            <a:ext cx="333756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4782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Predictions land within ~0.56 percentage points of the lab value, on average</a:t>
            </a:r>
            <a:r>
              <a:rPr lang="en-US" sz="11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5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 and CV and test scores agree closely</a:t>
            </a:r>
            <a:r>
              <a:rPr lang="en-US" sz="115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9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07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WHAT IT MEANS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Findings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492295" y="1955460"/>
            <a:ext cx="3977700" cy="25146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758952" y="2193229"/>
            <a:ext cx="457200" cy="45720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3252" y="230752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9"/>
          <p:cNvSpPr/>
          <p:nvPr/>
        </p:nvSpPr>
        <p:spPr>
          <a:xfrm>
            <a:off x="1333543" y="2174916"/>
            <a:ext cx="30174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700"/>
              <a:buFont typeface="Georgia"/>
              <a:buNone/>
            </a:pPr>
            <a:r>
              <a:rPr lang="en-US" sz="17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What w</a:t>
            </a:r>
            <a:r>
              <a:rPr lang="en-US" sz="17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as</a:t>
            </a:r>
            <a:r>
              <a:rPr lang="en-US" sz="17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 proved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766615" y="2824140"/>
            <a:ext cx="3474600" cy="15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52400" marR="0" lvl="0" indent="-152400" algn="l" rtl="0">
              <a:lnSpc>
                <a:spcPct val="127118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Caught and removed data leakage that inflated the first score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lnSpc>
                <a:spcPct val="127118"/>
              </a:lnSpc>
              <a:spcBef>
                <a:spcPts val="70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Traced the weak signal to a lab-sampled, slow-moving target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lnSpc>
                <a:spcPct val="127118"/>
              </a:lnSpc>
              <a:spcBef>
                <a:spcPts val="70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Built an honest model: tuned XGBoost at R² 0.536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4658140" y="1955460"/>
            <a:ext cx="3977700" cy="25146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4919472" y="2193229"/>
            <a:ext cx="457200" cy="45720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1" name="Google Shape;191;p1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33772" y="230752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/>
          <p:nvPr/>
        </p:nvSpPr>
        <p:spPr>
          <a:xfrm>
            <a:off x="5499388" y="2174916"/>
            <a:ext cx="30174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700"/>
              <a:buFont typeface="Georgia"/>
              <a:buNone/>
            </a:pPr>
            <a:r>
              <a:rPr lang="en-US" sz="170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How the model earns its place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4932460" y="2824140"/>
            <a:ext cx="3474600" cy="15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52400" marR="0" lvl="0" indent="-152400" algn="l" rtl="0">
              <a:lnSpc>
                <a:spcPct val="127118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Gives a near-real-time grade estimate between slow lab samples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lnSpc>
                <a:spcPct val="127118"/>
              </a:lnSpc>
              <a:spcBef>
                <a:spcPts val="70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Can flag quality drift early enough for operators to react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lnSpc>
                <a:spcPct val="127118"/>
              </a:lnSpc>
              <a:spcBef>
                <a:spcPts val="700"/>
              </a:spcBef>
              <a:spcAft>
                <a:spcPts val="0"/>
              </a:spcAft>
              <a:buClr>
                <a:srgbClr val="F2EEE9"/>
              </a:buClr>
              <a:buSzPts val="1180"/>
              <a:buFont typeface="Calibri"/>
              <a:buChar char="•"/>
            </a:pPr>
            <a:r>
              <a:rPr lang="en-US" sz="118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A working pipeline and baseline, ready to extend</a:t>
            </a:r>
            <a:endParaRPr sz="118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"/>
          <p:cNvSpPr/>
          <p:nvPr/>
        </p:nvSpPr>
        <p:spPr>
          <a:xfrm>
            <a:off x="7589520" y="3383280"/>
            <a:ext cx="3291840" cy="3291840"/>
          </a:xfrm>
          <a:prstGeom prst="ellipse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457200" y="384048"/>
            <a:ext cx="420624" cy="420624"/>
          </a:xfrm>
          <a:prstGeom prst="ellipse">
            <a:avLst/>
          </a:prstGeom>
          <a:solidFill>
            <a:srgbClr val="1A2229"/>
          </a:solidFill>
          <a:ln w="19050" cap="flat" cmpd="sng">
            <a:solidFill>
              <a:srgbClr val="E279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20"/>
          <p:cNvSpPr/>
          <p:nvPr/>
        </p:nvSpPr>
        <p:spPr>
          <a:xfrm>
            <a:off x="457200" y="3840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2793D"/>
              </a:buClr>
              <a:buSzPts val="1800"/>
              <a:buFont typeface="Georgia"/>
              <a:buNone/>
            </a:pPr>
            <a:r>
              <a:rPr lang="en-US" sz="1800" b="1" i="0" u="none" strike="noStrike" cap="none">
                <a:solidFill>
                  <a:srgbClr val="E2793D"/>
                </a:solidFill>
                <a:latin typeface="Georgia"/>
                <a:ea typeface="Georgia"/>
                <a:cs typeface="Georgia"/>
                <a:sym typeface="Georgia"/>
              </a:rPr>
              <a:t>08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987552" y="384048"/>
            <a:ext cx="68580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A1A9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93A1A9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57200" y="827125"/>
            <a:ext cx="8229600" cy="100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967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3100"/>
              <a:buFont typeface="Georgia"/>
              <a:buNone/>
            </a:pPr>
            <a:r>
              <a:rPr lang="en-US" sz="3100" b="1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Limitations</a:t>
            </a:r>
            <a:endParaRPr sz="3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502920" y="1946908"/>
            <a:ext cx="3977700" cy="21030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740664" y="2148076"/>
            <a:ext cx="420600" cy="42060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2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5820" y="2253232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0"/>
          <p:cNvSpPr/>
          <p:nvPr/>
        </p:nvSpPr>
        <p:spPr>
          <a:xfrm>
            <a:off x="1280160" y="2129788"/>
            <a:ext cx="3063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550"/>
              <a:buFont typeface="Georgia"/>
              <a:buNone/>
            </a:pPr>
            <a:r>
              <a:rPr lang="en-US" sz="155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Where the data falls short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740677" y="2676229"/>
            <a:ext cx="3520500" cy="12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39700" marR="0" lvl="0" indent="-139700" algn="l" rtl="0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100"/>
              <a:buFont typeface="Calibri"/>
              <a:buChar char="•"/>
            </a:pP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Target is lab-sampled</a:t>
            </a:r>
            <a:r>
              <a:rPr lang="en-US" sz="110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. F</a:t>
            </a: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rozen ~94% of hours</a:t>
            </a:r>
            <a:r>
              <a:rPr lang="en-US" sz="1100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9700" marR="0" lvl="0" indent="-139700" algn="l" rtl="0">
              <a:lnSpc>
                <a:spcPct val="122727"/>
              </a:lnSpc>
              <a:spcBef>
                <a:spcPts val="600"/>
              </a:spcBef>
              <a:spcAft>
                <a:spcPts val="0"/>
              </a:spcAft>
              <a:buClr>
                <a:srgbClr val="F2EEE9"/>
              </a:buClr>
              <a:buSzPts val="1100"/>
              <a:buFont typeface="Calibri"/>
              <a:buChar char="•"/>
            </a:pP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Process variables correlate only weakly with grade on their own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9700" marR="0" lvl="0" indent="-139700" algn="l" rtl="0">
              <a:lnSpc>
                <a:spcPct val="122727"/>
              </a:lnSpc>
              <a:spcBef>
                <a:spcPts val="600"/>
              </a:spcBef>
              <a:spcAft>
                <a:spcPts val="0"/>
              </a:spcAft>
              <a:buClr>
                <a:srgbClr val="F2EEE9"/>
              </a:buClr>
              <a:buSzPts val="1100"/>
              <a:buFont typeface="Calibri"/>
              <a:buChar char="•"/>
            </a:pP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The test period drifts to a lower average grade than training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4681740" y="1946908"/>
            <a:ext cx="3977700" cy="2103000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0"/>
          <p:cNvSpPr/>
          <p:nvPr/>
        </p:nvSpPr>
        <p:spPr>
          <a:xfrm>
            <a:off x="4919484" y="2148076"/>
            <a:ext cx="420600" cy="420600"/>
          </a:xfrm>
          <a:prstGeom prst="ellipse">
            <a:avLst/>
          </a:prstGeom>
          <a:solidFill>
            <a:srgbClr val="E279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1" name="Google Shape;211;p2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4640" y="2253232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/>
          <p:nvPr/>
        </p:nvSpPr>
        <p:spPr>
          <a:xfrm>
            <a:off x="5426130" y="2129788"/>
            <a:ext cx="3063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550"/>
              <a:buFont typeface="Georgia"/>
              <a:buNone/>
            </a:pPr>
            <a:r>
              <a:rPr lang="en-US" sz="1550" b="1" i="0" u="none" strike="noStrike" cap="none">
                <a:solidFill>
                  <a:srgbClr val="F2EEE9"/>
                </a:solidFill>
                <a:latin typeface="Georgia"/>
                <a:ea typeface="Georgia"/>
                <a:cs typeface="Georgia"/>
                <a:sym typeface="Georgia"/>
              </a:rPr>
              <a:t>What would move it forward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4942622" y="2613204"/>
            <a:ext cx="3520500" cy="12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39700" marR="0" lvl="0" indent="-139700" algn="l" rtl="0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Clr>
                <a:srgbClr val="F2EEE9"/>
              </a:buClr>
              <a:buSzPts val="1100"/>
              <a:buFont typeface="Calibri"/>
              <a:buChar char="•"/>
            </a:pP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Higher-frequency lab sampling to expose true process dynamics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9700" marR="0" lvl="0" indent="-139700" algn="l" rtl="0">
              <a:lnSpc>
                <a:spcPct val="122727"/>
              </a:lnSpc>
              <a:spcBef>
                <a:spcPts val="600"/>
              </a:spcBef>
              <a:spcAft>
                <a:spcPts val="0"/>
              </a:spcAft>
              <a:buClr>
                <a:srgbClr val="F2EEE9"/>
              </a:buClr>
              <a:buSzPts val="1100"/>
              <a:buFont typeface="Calibri"/>
              <a:buChar char="•"/>
            </a:pPr>
            <a:r>
              <a:rPr lang="en-US" sz="1100" b="0" i="0" u="none" strike="noStrike" cap="none">
                <a:solidFill>
                  <a:srgbClr val="F2EEE9"/>
                </a:solidFill>
                <a:latin typeface="Calibri"/>
                <a:ea typeface="Calibri"/>
                <a:cs typeface="Calibri"/>
                <a:sym typeface="Calibri"/>
              </a:rPr>
              <a:t>Predicting silica concentrate as a complementary target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229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7589520" y="3383280"/>
            <a:ext cx="3291900" cy="3291900"/>
          </a:xfrm>
          <a:prstGeom prst="ellipse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1"/>
          <p:cNvSpPr/>
          <p:nvPr/>
        </p:nvSpPr>
        <p:spPr>
          <a:xfrm>
            <a:off x="1234918" y="1261382"/>
            <a:ext cx="6674163" cy="2620736"/>
          </a:xfrm>
          <a:prstGeom prst="rect">
            <a:avLst/>
          </a:prstGeom>
          <a:solidFill>
            <a:srgbClr val="25313A"/>
          </a:solidFill>
          <a:ln w="12700" cap="flat" cmpd="sng">
            <a:solidFill>
              <a:srgbClr val="3C4A54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38100" dir="8100000" algn="bl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Thank you for your attention!</a:t>
            </a:r>
            <a:br>
              <a:rPr lang="en-US" sz="2400" b="1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</a:br>
            <a:endParaRPr lang="en-US" sz="1600" b="1" dirty="0">
              <a:solidFill>
                <a:schemeClr val="accent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b="1" dirty="0">
              <a:solidFill>
                <a:schemeClr val="accent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Predicting Iron Concentrate Quality</a:t>
            </a:r>
            <a:r>
              <a:rPr lang="en-US" sz="16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 (Machine Learning Project)</a:t>
            </a:r>
            <a:endParaRPr sz="1600" b="1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rPr>
              <a:t>Team: </a:t>
            </a:r>
            <a:r>
              <a:rPr lang="en-US" sz="16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Adriana Alves</a:t>
            </a:r>
            <a:endParaRPr sz="1600" b="1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1072</Words>
  <Application>Microsoft Macintosh PowerPoint</Application>
  <PresentationFormat>On-screen Show (16:9)</PresentationFormat>
  <Paragraphs>124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Adriana Alves</cp:lastModifiedBy>
  <cp:revision>1</cp:revision>
  <dcterms:modified xsi:type="dcterms:W3CDTF">2026-05-15T16:37:46Z</dcterms:modified>
</cp:coreProperties>
</file>